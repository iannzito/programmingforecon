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60"/>
  </p:normalViewPr>
  <p:slideViewPr>
    <p:cSldViewPr snapToGrid="0">
      <p:cViewPr varScale="1">
        <p:scale>
          <a:sx n="100" d="100"/>
          <a:sy n="100" d="100"/>
        </p:scale>
        <p:origin x="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A9C3B-4B19-9347-B8AD-D5FE803E476C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88F5E-8889-4940-B3FA-5890413DF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6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88F5E-8889-4940-B3FA-5890413DF1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4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Why comparing minimum wages and rent prices is an important social issue.</a:t>
            </a:r>
          </a:p>
          <a:p>
            <a:pPr lvl="0"/>
            <a:r>
              <a:rPr lang="en-US" sz="1200" b="1" dirty="0"/>
              <a:t>Shows affordability:</a:t>
            </a:r>
            <a:r>
              <a:rPr lang="en-US" sz="1200" dirty="0"/>
              <a:t> Comparing minimum wages and rent prices helps determine whether workers can afford basic housing with their earnings. </a:t>
            </a:r>
          </a:p>
          <a:p>
            <a:pPr lvl="0"/>
            <a:r>
              <a:rPr lang="en-US" sz="1200" b="1" dirty="0"/>
              <a:t>Highlights social inequality:</a:t>
            </a:r>
            <a:r>
              <a:rPr lang="en-US" sz="1200" dirty="0"/>
              <a:t> If rent increases faster than wages, it can lead to financial hardship, homelessness, and a lower quality of life for many people.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88F5E-8889-4940-B3FA-5890413DF1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4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these datasets?</a:t>
            </a:r>
            <a:endParaRPr lang="en-US" sz="14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Official European data.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Reliable and comparable across countries. 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Allowed temporal and spatial analyses.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selected Eurostat because it uses harmonized methods across countries, making comparisons more reliable and consistent.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described: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collected the data,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the data measure,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years included,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each dataset was useful.</a:t>
            </a:r>
          </a:p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Acknowledged limitations, such as: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HICP reflects average price changes and does not show regional 	differences.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Minimum wage data only include countries with statutory 	minimum wages.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Missing values meant some countries could not be included.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88F5E-8889-4940-B3FA-5890413DF1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146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Handled missing data: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Countries with incomplete data (Like: Bosnia, Turkey, and Albania) were removed to ensure consistent comparisons across all analyses.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88F5E-8889-4940-B3FA-5890413DF1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176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147D-3DE1-A9E8-32BC-B019EB28A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D402C-DB6C-0016-8A2E-F0C45E725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C8D57-81D6-80BD-B515-D851C8314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6A5E-37A7-6647-947D-4E14D7B64370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7F352-D627-45FB-6273-4443D053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87A80-55B9-D150-7543-7B5A65D42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810B-0120-9244-AD6E-102081C4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11021-1438-70E9-D847-AC3E61F51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53838-AC88-EAD8-6A57-23A8C35F1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0A6E4-0E94-A911-EFA7-1C912EB4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6A5E-37A7-6647-947D-4E14D7B64370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03299-6F78-C6A0-2913-7961A099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932B4-8F64-487C-8680-F68EA2DF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810B-0120-9244-AD6E-102081C4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04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E5149-784A-4140-8E5F-1C00C2DBB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2E53B-CCE7-67D8-B901-447B0F62F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9ADA3-A062-4CFF-6F81-92E5EBE10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6A5E-37A7-6647-947D-4E14D7B64370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5C46C-0385-4A0A-9A57-F15DA6132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E608B-3F8F-4316-1637-ABE736C8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810B-0120-9244-AD6E-102081C4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83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97514-BC80-BCF0-F5E9-A3D5AE8D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D6C22-B5A4-BA83-A6BA-CB041F980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8C0A9B-F875-7021-5AC0-9F4DB87AC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CAF89-4C92-E35A-F9F5-49FA3784C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6A5E-37A7-6647-947D-4E14D7B64370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09049-6F79-6D20-9FA3-99AAE15E6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14A39-7EB1-E6F6-457E-8CEDE16CB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810B-0120-9244-AD6E-102081C4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55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41E54-7383-C25E-0058-CB04AE6C3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EF7D6-ADEF-52E7-3DF7-4B3D2AD81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947E5-0CA7-E66B-E9C1-0428080D6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74E654-1901-0DA0-B955-EB3F5D2EE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6EA5C9-8B5A-7A33-94F3-469D6B63F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C01793-3261-E197-CCAE-B96A6FDD3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6A5E-37A7-6647-947D-4E14D7B64370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6E3695-FAFB-5B29-BF3A-BF91907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7D956-9AC9-62F8-CAE8-B5FCAC849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810B-0120-9244-AD6E-102081C4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9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F11EC-E316-9BB1-A4E5-B66438C5D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F60C5B-3A41-13D6-F19E-0BFC00FC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6A5E-37A7-6647-947D-4E14D7B64370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18694-2A12-C386-B107-56A99421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95F20-6827-AB22-6D1C-CC6A8C2CD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810B-0120-9244-AD6E-102081C4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07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05DCA-7510-B533-21F7-FB2B012D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6A5E-37A7-6647-947D-4E14D7B64370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FCB05-8B0E-8EF8-FBA0-8A4F04B6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DF244-1C4B-FD93-9E3D-7A6C87B0C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810B-0120-9244-AD6E-102081C4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3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1D0E-A7F2-4147-05B3-013B36946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21F12-B89B-40A8-E69C-FBB79987E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A8E2E-DE47-C730-6556-925C4730E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8428E-6814-4EB5-E3B4-6D92031B6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6A5E-37A7-6647-947D-4E14D7B64370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D7A9F-99DD-B7C1-132A-13914E38D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DDA90-5F72-5FB1-F039-97D613CB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810B-0120-9244-AD6E-102081C4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7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BC961-AEA3-81D5-F212-97EE54C20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41B7EC-CF8F-34F0-2840-3A2F1C076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B368C-C9D5-315F-F558-6712CEE8F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7607D-BBBF-BA2F-A174-93E65EFD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6A5E-37A7-6647-947D-4E14D7B64370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934E2-EE7F-5A1A-D84F-57383439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CC321-FCCF-941D-45FB-C967EAD0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810B-0120-9244-AD6E-102081C4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1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F86C-0211-6B0D-A4EC-5B7E5066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AC4C5-D229-07F2-6379-548227D72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F7CF9-4C9B-6D16-40D9-2FC491B4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6A5E-37A7-6647-947D-4E14D7B64370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57C1B-1C88-FA67-44D6-0D092226D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8B574-D455-9B0A-D3B7-D74BE4BF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810B-0120-9244-AD6E-102081C4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67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F948A2-7399-86CD-BFE2-7E4FFAA7B5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929A5-A9A8-1D6B-2F7F-9A56298E7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EE6E0-CE0C-B38B-2BE7-5731D64B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A6A5E-37A7-6647-947D-4E14D7B64370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16814-E682-E8CC-1FFA-6344B77E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C8236-10B0-E50D-5D9A-26B6FFE5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4810B-0120-9244-AD6E-102081C4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1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437D1-286B-B8D2-ED7E-7709E653E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374F4-DA99-45BC-CAA8-00976B2EC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D70EC-F99C-272A-405D-943BE5000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A6A5E-37A7-6647-947D-4E14D7B64370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5AFF2-5223-C4AD-1169-59436CC89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3D047-766E-4AA9-D315-D6FCF83E0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4810B-0120-9244-AD6E-102081C40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800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hose Who Understand Stats Are Less Prone To COVID - GCIS Information  Solutions">
            <a:extLst>
              <a:ext uri="{FF2B5EF4-FFF2-40B4-BE49-F238E27FC236}">
                <a16:creationId xmlns:a16="http://schemas.microsoft.com/office/drawing/2014/main" id="{BEE1D5CB-6B40-76DF-0716-650DE282D5B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3171" r="7962"/>
          <a:stretch>
            <a:fillRect/>
          </a:stretch>
        </p:blipFill>
        <p:spPr>
          <a:xfrm>
            <a:off x="307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721718-16A3-8CA0-8760-DDB87EFD3F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5600" b="1">
                <a:solidFill>
                  <a:schemeClr val="bg1"/>
                </a:solidFill>
              </a:rPr>
              <a:t>Comparing Minimum Wages and Rent Prices in Europe</a:t>
            </a:r>
            <a:br>
              <a:rPr lang="en-US" sz="5600">
                <a:solidFill>
                  <a:schemeClr val="bg1"/>
                </a:solidFill>
              </a:rPr>
            </a:br>
            <a:endParaRPr lang="en-US" sz="56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6B8BF-1FD4-D61A-BF3E-4784981F0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Julian Trinkl, Dania Al Khulaifi, Giorgia Tanzi, Iann </a:t>
            </a:r>
            <a:r>
              <a:rPr lang="en-US" dirty="0" err="1">
                <a:solidFill>
                  <a:schemeClr val="bg1"/>
                </a:solidFill>
              </a:rPr>
              <a:t>Soffried</a:t>
            </a:r>
            <a:r>
              <a:rPr lang="en-US" dirty="0">
                <a:solidFill>
                  <a:schemeClr val="bg1"/>
                </a:solidFill>
              </a:rPr>
              <a:t>, Noel Kona, Morris </a:t>
            </a:r>
            <a:r>
              <a:rPr lang="en-US" dirty="0" err="1">
                <a:solidFill>
                  <a:schemeClr val="bg1"/>
                </a:solidFill>
              </a:rPr>
              <a:t>Nouwens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Group 5 – Tutorial 5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02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7E06D-AFB0-34EE-D74A-9FECAC630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chemeClr val="tx1">
                    <a:lumMod val="85000"/>
                    <a:lumOff val="15000"/>
                  </a:schemeClr>
                </a:solidFill>
              </a:rPr>
              <a:t>Problem Motivation and Literature</a:t>
            </a:r>
            <a:br>
              <a:rPr lang="en-US" sz="37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3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A0B1F-86F8-D65E-1B29-4DFACA634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194101"/>
            <a:ext cx="8276026" cy="3877937"/>
          </a:xfrm>
        </p:spPr>
        <p:txBody>
          <a:bodyPr anchor="ctr">
            <a:normAutofit lnSpcReduction="10000"/>
          </a:bodyPr>
          <a:lstStyle/>
          <a:p>
            <a:pPr lvl="0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Why comparing minimum wages and rent prices is an important social issue.</a:t>
            </a:r>
          </a:p>
          <a:p>
            <a:pPr lvl="0"/>
            <a:r>
              <a:rPr lang="en-US" sz="2000" dirty="0"/>
              <a:t>Shows affordability</a:t>
            </a:r>
          </a:p>
          <a:p>
            <a:pPr lvl="0"/>
            <a:r>
              <a:rPr lang="en-US" sz="2000" dirty="0"/>
              <a:t>Highlights social inequality</a:t>
            </a:r>
          </a:p>
          <a:p>
            <a:pPr lvl="0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Used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two credible sources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</a:p>
          <a:p>
            <a:pPr lvl="1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International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Labour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Organization (ILO, 2022)</a:t>
            </a:r>
          </a:p>
          <a:p>
            <a:pPr lvl="1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European Union Directive on Adequate Minimum Wages (2022)</a:t>
            </a:r>
          </a:p>
          <a:p>
            <a:pPr lvl="0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Identified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research gap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</a:p>
          <a:p>
            <a:pPr lvl="0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Most studies focus on individual countries.</a:t>
            </a:r>
          </a:p>
          <a:p>
            <a:pPr lvl="0"/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Few studies compare minimum wages and living costs across Europe over time.</a:t>
            </a:r>
          </a:p>
          <a:p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49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6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457200" dist="63500" sx="99000" sy="99000" algn="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34EAD-BDF5-FFC8-519F-580510BB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45" y="5546162"/>
            <a:ext cx="6661702" cy="953611"/>
          </a:xfrm>
        </p:spPr>
        <p:txBody>
          <a:bodyPr anchor="ctr">
            <a:normAutofit/>
          </a:bodyPr>
          <a:lstStyle/>
          <a:p>
            <a:r>
              <a:rPr lang="en-US" sz="3100" b="1"/>
              <a:t>Data Sourcing and Description</a:t>
            </a:r>
            <a:br>
              <a:rPr lang="en-US" sz="3100" b="1"/>
            </a:br>
            <a:endParaRPr lang="en-US" sz="3100"/>
          </a:p>
        </p:txBody>
      </p:sp>
      <p:pic>
        <p:nvPicPr>
          <p:cNvPr id="4" name="Picture 3" descr="Eurostat - YouTube">
            <a:extLst>
              <a:ext uri="{FF2B5EF4-FFF2-40B4-BE49-F238E27FC236}">
                <a16:creationId xmlns:a16="http://schemas.microsoft.com/office/drawing/2014/main" id="{B94C763A-F5FD-F557-2127-2EB97FDA2A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894" r="8559" b="-2"/>
          <a:stretch>
            <a:fillRect/>
          </a:stretch>
        </p:blipFill>
        <p:spPr>
          <a:xfrm>
            <a:off x="20" y="-1"/>
            <a:ext cx="7574488" cy="51615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2529F-949B-CCFE-B0AD-0012E4DEE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0064" y="743803"/>
            <a:ext cx="3144523" cy="5474173"/>
          </a:xfrm>
        </p:spPr>
        <p:txBody>
          <a:bodyPr anchor="ctr">
            <a:normAutofit/>
          </a:bodyPr>
          <a:lstStyle/>
          <a:p>
            <a:pPr lvl="0"/>
            <a:r>
              <a:rPr lang="en-US" sz="1700" b="1"/>
              <a:t>The three public datasets</a:t>
            </a:r>
            <a:r>
              <a:rPr lang="en-US" sz="1700"/>
              <a:t>:</a:t>
            </a:r>
          </a:p>
          <a:p>
            <a:pPr lvl="1"/>
            <a:r>
              <a:rPr lang="en-US" sz="1700"/>
              <a:t>We used </a:t>
            </a:r>
            <a:r>
              <a:rPr lang="en-US" sz="1700" b="1"/>
              <a:t>three public datasets</a:t>
            </a:r>
            <a:r>
              <a:rPr lang="en-US" sz="1700"/>
              <a:t>:</a:t>
            </a:r>
          </a:p>
          <a:p>
            <a:pPr lvl="0"/>
            <a:r>
              <a:rPr lang="en-US" sz="1700" b="1"/>
              <a:t>Eurostat HICP dataset</a:t>
            </a:r>
            <a:r>
              <a:rPr lang="en-US" sz="1700"/>
              <a:t> </a:t>
            </a:r>
          </a:p>
          <a:p>
            <a:pPr lvl="1"/>
            <a:r>
              <a:rPr lang="en-US" sz="1700"/>
              <a:t>Measures rent inflation. </a:t>
            </a:r>
          </a:p>
          <a:p>
            <a:pPr lvl="1"/>
            <a:r>
              <a:rPr lang="en-US" sz="1700"/>
              <a:t>Covers 2015–2025. </a:t>
            </a:r>
          </a:p>
          <a:p>
            <a:pPr lvl="0"/>
            <a:r>
              <a:rPr lang="en-US" sz="1700" b="1"/>
              <a:t>Eurostat Minimum Wage dataset</a:t>
            </a:r>
            <a:r>
              <a:rPr lang="en-US" sz="1700"/>
              <a:t> </a:t>
            </a:r>
          </a:p>
          <a:p>
            <a:pPr lvl="1"/>
            <a:r>
              <a:rPr lang="en-US" sz="1700"/>
              <a:t>Annual statutory minimum wages. </a:t>
            </a:r>
          </a:p>
          <a:p>
            <a:pPr lvl="1"/>
            <a:r>
              <a:rPr lang="en-US" sz="1700"/>
              <a:t>Allows comparison between countries. </a:t>
            </a:r>
          </a:p>
          <a:p>
            <a:pPr lvl="0"/>
            <a:r>
              <a:rPr lang="en-US" sz="1700" b="1"/>
              <a:t>giscoR geographic dataset</a:t>
            </a:r>
            <a:r>
              <a:rPr lang="en-US" sz="1700"/>
              <a:t> </a:t>
            </a:r>
          </a:p>
          <a:p>
            <a:pPr lvl="1"/>
            <a:r>
              <a:rPr lang="en-US" sz="1700"/>
              <a:t>European country boundaries. </a:t>
            </a:r>
          </a:p>
          <a:p>
            <a:pPr lvl="1"/>
            <a:r>
              <a:rPr lang="en-US" sz="1700"/>
              <a:t>Used for mapping inflation differences.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28552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E76F-77F5-5AC1-B2A5-5998F94FA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4" y="647700"/>
            <a:ext cx="2835554" cy="5557838"/>
          </a:xfrm>
        </p:spPr>
        <p:txBody>
          <a:bodyPr anchor="ctr">
            <a:normAutofit/>
          </a:bodyPr>
          <a:lstStyle/>
          <a:p>
            <a:r>
              <a:rPr lang="en-US" sz="3600" b="1"/>
              <a:t>Data Cleaning</a:t>
            </a:r>
            <a:br>
              <a:rPr lang="en-US" sz="3600"/>
            </a:b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E7CC5-D79F-760F-A45D-90BA47B90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8302" y="647700"/>
            <a:ext cx="3618162" cy="5557838"/>
          </a:xfrm>
        </p:spPr>
        <p:txBody>
          <a:bodyPr anchor="ctr">
            <a:normAutofit/>
          </a:bodyPr>
          <a:lstStyle/>
          <a:p>
            <a:r>
              <a:rPr lang="en-US" sz="1300"/>
              <a:t>We cleaned and merged the datasets before analysis.</a:t>
            </a:r>
          </a:p>
          <a:p>
            <a:r>
              <a:rPr lang="en-US" sz="1300" b="1"/>
              <a:t>Step 1: Remove unnecessary information</a:t>
            </a:r>
          </a:p>
          <a:p>
            <a:pPr lvl="0"/>
            <a:r>
              <a:rPr lang="en-US" sz="1300"/>
              <a:t>Removed metadata rows. </a:t>
            </a:r>
          </a:p>
          <a:p>
            <a:pPr lvl="0"/>
            <a:r>
              <a:rPr lang="en-US" sz="1300"/>
              <a:t>Deleted empty observations. </a:t>
            </a:r>
          </a:p>
          <a:p>
            <a:pPr lvl="0"/>
            <a:r>
              <a:rPr lang="en-US" sz="1300"/>
              <a:t>Kept only countries and years relevant to the study. </a:t>
            </a:r>
          </a:p>
          <a:p>
            <a:r>
              <a:rPr lang="en-US" sz="1300" b="1"/>
              <a:t>Step 2: Standardize variables</a:t>
            </a:r>
          </a:p>
          <a:p>
            <a:pPr lvl="0"/>
            <a:r>
              <a:rPr lang="en-US" sz="1300"/>
              <a:t>Converted HICP and wage values to numeric format. </a:t>
            </a:r>
          </a:p>
          <a:p>
            <a:pPr lvl="0"/>
            <a:r>
              <a:rPr lang="en-US" sz="1300"/>
              <a:t>Reshaped datasets into a country-year structure. </a:t>
            </a:r>
          </a:p>
          <a:p>
            <a:pPr lvl="0"/>
            <a:r>
              <a:rPr lang="en-US" sz="1300"/>
              <a:t>Created </a:t>
            </a:r>
            <a:r>
              <a:rPr lang="en-US" sz="1300" b="1"/>
              <a:t>HICP percentage change (2015–2025)</a:t>
            </a:r>
            <a:r>
              <a:rPr lang="en-US" sz="1300"/>
              <a:t>. </a:t>
            </a:r>
          </a:p>
          <a:p>
            <a:r>
              <a:rPr lang="en-US" sz="1300" b="1"/>
              <a:t>Step 3: Merge datasets</a:t>
            </a:r>
          </a:p>
          <a:p>
            <a:pPr lvl="0"/>
            <a:r>
              <a:rPr lang="en-US" sz="1300"/>
              <a:t>Combined HICP and wage data using country and year. </a:t>
            </a:r>
          </a:p>
          <a:p>
            <a:pPr lvl="0"/>
            <a:r>
              <a:rPr lang="en-US" sz="1300"/>
              <a:t>Linked geographic data using country names. </a:t>
            </a:r>
          </a:p>
          <a:p>
            <a:pPr lvl="0"/>
            <a:r>
              <a:rPr lang="en-US" sz="1300"/>
              <a:t>Removed Bosnia, Turkey, and Albania because of missing data.</a:t>
            </a:r>
          </a:p>
          <a:p>
            <a:endParaRPr lang="en-US" sz="1300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87EEE718-D93E-7F9D-CA80-E339683545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66" r="33386" b="-2"/>
          <a:stretch>
            <a:fillRect/>
          </a:stretch>
        </p:blipFill>
        <p:spPr>
          <a:xfrm>
            <a:off x="7431299" y="1"/>
            <a:ext cx="4760702" cy="6856413"/>
          </a:xfrm>
          <a:custGeom>
            <a:avLst/>
            <a:gdLst/>
            <a:ahLst/>
            <a:cxnLst/>
            <a:rect l="l" t="t" r="r" b="b"/>
            <a:pathLst>
              <a:path w="4760702" h="6856413">
                <a:moveTo>
                  <a:pt x="0" y="0"/>
                </a:moveTo>
                <a:lnTo>
                  <a:pt x="4760702" y="0"/>
                </a:lnTo>
                <a:lnTo>
                  <a:pt x="4760702" y="6856413"/>
                </a:lnTo>
                <a:lnTo>
                  <a:pt x="168269" y="6856413"/>
                </a:lnTo>
                <a:lnTo>
                  <a:pt x="228520" y="6494592"/>
                </a:lnTo>
                <a:cubicBezTo>
                  <a:pt x="521784" y="4449343"/>
                  <a:pt x="126947" y="2404092"/>
                  <a:pt x="14408" y="35884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6299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BAD62-878D-EBAA-EB08-AC4B565A3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/>
              <a:t>New Variables</a:t>
            </a:r>
            <a:br>
              <a:rPr lang="en-US" sz="4000"/>
            </a:b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EE0C7-4C31-7B60-DB60-6261B66AD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900" b="1"/>
              <a:t>Variable 1:</a:t>
            </a:r>
          </a:p>
          <a:p>
            <a:r>
              <a:rPr lang="en-US" sz="1900" b="1"/>
              <a:t>Average Minimum Wage Growth</a:t>
            </a:r>
            <a:endParaRPr lang="en-US" sz="1900"/>
          </a:p>
          <a:p>
            <a:pPr lvl="0"/>
            <a:r>
              <a:rPr lang="en-US" sz="1900"/>
              <a:t>Measures how wages changed over time. </a:t>
            </a:r>
          </a:p>
          <a:p>
            <a:r>
              <a:rPr lang="en-US" sz="1900" b="1"/>
              <a:t>Variable 2:</a:t>
            </a:r>
          </a:p>
          <a:p>
            <a:r>
              <a:rPr lang="en-US" sz="1900" b="1"/>
              <a:t>Rent Inflation Change (2015–2025)</a:t>
            </a:r>
            <a:endParaRPr lang="en-US" sz="1900"/>
          </a:p>
          <a:p>
            <a:pPr lvl="0"/>
            <a:r>
              <a:rPr lang="en-US" sz="1900"/>
              <a:t>Measures increases in housing costs. </a:t>
            </a:r>
          </a:p>
          <a:p>
            <a:r>
              <a:rPr lang="en-US" sz="1900" b="1"/>
              <a:t>Why?</a:t>
            </a:r>
          </a:p>
          <a:p>
            <a:pPr lvl="0"/>
            <a:r>
              <a:rPr lang="en-US" sz="1900"/>
              <a:t>Allows direct comparison between wages and rent prices. </a:t>
            </a:r>
          </a:p>
          <a:p>
            <a:pPr lvl="0"/>
            <a:r>
              <a:rPr lang="en-US" sz="1900"/>
              <a:t>Helps answer our research question.</a:t>
            </a:r>
          </a:p>
          <a:p>
            <a:endParaRPr lang="en-US" sz="1900"/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77A71787-70FC-1AA7-30CC-257435257F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55" r="23108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86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5E6E3-F397-C1F9-1592-A83E7E932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b="1" dirty="0"/>
              <a:t>Temporal Variation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A1094-5E6B-8CFA-4A89-E10CD0684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lvl="0"/>
            <a:r>
              <a:rPr lang="en-US" sz="1900"/>
              <a:t>Created a time-series graph (2020–2025). </a:t>
            </a:r>
          </a:p>
          <a:p>
            <a:pPr lvl="0"/>
            <a:r>
              <a:rPr lang="en-US" sz="1900"/>
              <a:t>Added axis labels and legends. </a:t>
            </a:r>
          </a:p>
          <a:p>
            <a:pPr lvl="0"/>
            <a:r>
              <a:rPr lang="en-US" sz="1900"/>
              <a:t>Compared rent inflation with minimum wage growth. </a:t>
            </a:r>
          </a:p>
          <a:p>
            <a:pPr lvl="0"/>
            <a:r>
              <a:rPr lang="en-US" sz="1900"/>
              <a:t>Interpreted the trends. </a:t>
            </a:r>
          </a:p>
          <a:p>
            <a:r>
              <a:rPr lang="en-US" sz="1900" b="1"/>
              <a:t>Findings:</a:t>
            </a:r>
          </a:p>
          <a:p>
            <a:pPr lvl="0"/>
            <a:r>
              <a:rPr lang="en-US" sz="1900"/>
              <a:t>Minimum wages increased after inflation spikes. </a:t>
            </a:r>
          </a:p>
          <a:p>
            <a:pPr lvl="0"/>
            <a:r>
              <a:rPr lang="en-US" sz="1900"/>
              <a:t>Average wage growth generally kept pace with inflation. </a:t>
            </a:r>
          </a:p>
          <a:p>
            <a:pPr lvl="0"/>
            <a:r>
              <a:rPr lang="en-US" sz="1900"/>
              <a:t>Country differences still existed. </a:t>
            </a:r>
          </a:p>
          <a:p>
            <a:endParaRPr lang="en-US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B0F9CD-DADA-78E3-A0BE-E8CAEB1EC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07" y="2470694"/>
            <a:ext cx="4958965" cy="3297711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03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8DF59-D787-4EED-B533-2B8AE9E2D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b="1" dirty="0"/>
              <a:t>Spatial Variation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B79BA-8001-061D-F049-9325BADA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1700" b="1"/>
              <a:t>How we achieved Perfect Quality:</a:t>
            </a:r>
          </a:p>
          <a:p>
            <a:pPr lvl="0"/>
            <a:r>
              <a:rPr lang="en-US" sz="1700"/>
              <a:t>Created a European map showing rent inflation. </a:t>
            </a:r>
          </a:p>
          <a:p>
            <a:pPr lvl="0"/>
            <a:r>
              <a:rPr lang="en-US" sz="1700"/>
              <a:t>Included captions, legends, and labels. </a:t>
            </a:r>
          </a:p>
          <a:p>
            <a:pPr lvl="0"/>
            <a:r>
              <a:rPr lang="en-US" sz="1700"/>
              <a:t>Compared countries and regions. </a:t>
            </a:r>
          </a:p>
          <a:p>
            <a:pPr lvl="0"/>
            <a:r>
              <a:rPr lang="en-US" sz="1700"/>
              <a:t>Discussed mapping limitations. </a:t>
            </a:r>
          </a:p>
          <a:p>
            <a:r>
              <a:rPr lang="en-US" sz="1700" b="1"/>
              <a:t>Findings:</a:t>
            </a:r>
          </a:p>
          <a:p>
            <a:pPr lvl="0"/>
            <a:r>
              <a:rPr lang="en-US" sz="1700"/>
              <a:t>Eastern Europe experienced higher inflation. </a:t>
            </a:r>
          </a:p>
          <a:p>
            <a:pPr lvl="0"/>
            <a:r>
              <a:rPr lang="en-US" sz="1700"/>
              <a:t>Western Europe showed smaller increases. </a:t>
            </a:r>
          </a:p>
          <a:p>
            <a:pPr lvl="0"/>
            <a:r>
              <a:rPr lang="en-US" sz="1700"/>
              <a:t>Countries facing larger price increases need greater wage growth. </a:t>
            </a:r>
          </a:p>
          <a:p>
            <a:endParaRPr lang="en-US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46037B-0C23-32C9-136C-3F3647939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907" y="2374924"/>
            <a:ext cx="4958965" cy="3496069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15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04A9AD-E731-7747-7D4F-0E9C6BA0D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sz="3400" b="1"/>
              <a:t>Sub-population Analysis</a:t>
            </a:r>
            <a:br>
              <a:rPr lang="en-US" sz="3400" b="1"/>
            </a:b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9C757-CF4E-BBD2-4087-B5A41B30E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r>
              <a:rPr lang="en-US" sz="1700" b="1"/>
              <a:t>How we achieved Perfect Quality:</a:t>
            </a:r>
          </a:p>
          <a:p>
            <a:pPr lvl="0"/>
            <a:r>
              <a:rPr lang="en-US" sz="1700"/>
              <a:t>Grouped countries by: </a:t>
            </a:r>
          </a:p>
          <a:p>
            <a:pPr lvl="1"/>
            <a:r>
              <a:rPr lang="en-US" sz="1700"/>
              <a:t>Countries with minimum wage laws. </a:t>
            </a:r>
          </a:p>
          <a:p>
            <a:pPr lvl="1"/>
            <a:r>
              <a:rPr lang="en-US" sz="1700"/>
              <a:t>Countries without minimum wage laws. </a:t>
            </a:r>
          </a:p>
          <a:p>
            <a:r>
              <a:rPr lang="en-US" sz="1700" b="1"/>
              <a:t>Findings:</a:t>
            </a:r>
          </a:p>
          <a:p>
            <a:pPr lvl="0"/>
            <a:r>
              <a:rPr lang="en-US" sz="1700"/>
              <a:t>Countries with minimum wages showed higher inflation variation. </a:t>
            </a:r>
          </a:p>
          <a:p>
            <a:pPr lvl="0"/>
            <a:r>
              <a:rPr lang="en-US" sz="1700"/>
              <a:t>Wealthier countries without minimum wages had lower inflation. </a:t>
            </a:r>
          </a:p>
          <a:p>
            <a:pPr lvl="0"/>
            <a:r>
              <a:rPr lang="en-US" sz="1700"/>
              <a:t>Association does not mean causation. </a:t>
            </a:r>
          </a:p>
          <a:p>
            <a:endParaRPr lang="en-US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0A7CDF-196B-63C5-F079-768F0E73C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103" y="1711702"/>
            <a:ext cx="5117039" cy="342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2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DC9F28-1579-6F8B-CE6D-D54D4B7BA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b="1" dirty="0"/>
              <a:t>Event Association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CE9EE-E12B-6E2D-BD84-DEFDA43B9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r>
              <a:rPr lang="en-US" sz="1700" b="1"/>
              <a:t>How we achieved Perfect Quality:</a:t>
            </a:r>
          </a:p>
          <a:p>
            <a:pPr lvl="0"/>
            <a:r>
              <a:rPr lang="en-US" sz="1700"/>
              <a:t>Examined inflation and wage growth around major events. </a:t>
            </a:r>
          </a:p>
          <a:p>
            <a:pPr lvl="0"/>
            <a:r>
              <a:rPr lang="en-US" sz="1700"/>
              <a:t>Focused on the impact of the </a:t>
            </a:r>
            <a:r>
              <a:rPr lang="en-US" sz="1700" b="1"/>
              <a:t>Russia–Ukraine War (2022)</a:t>
            </a:r>
            <a:r>
              <a:rPr lang="en-US" sz="1700"/>
              <a:t>. </a:t>
            </a:r>
          </a:p>
          <a:p>
            <a:pPr lvl="0"/>
            <a:r>
              <a:rPr lang="en-US" sz="1700"/>
              <a:t>Compared changes before and after the event. </a:t>
            </a:r>
          </a:p>
          <a:p>
            <a:pPr lvl="0"/>
            <a:r>
              <a:rPr lang="en-US" sz="1700"/>
              <a:t>Discussed limitations of causal interpretation. </a:t>
            </a:r>
          </a:p>
          <a:p>
            <a:r>
              <a:rPr lang="en-US" sz="1700" b="1"/>
              <a:t>Findings:</a:t>
            </a:r>
          </a:p>
          <a:p>
            <a:pPr lvl="0"/>
            <a:r>
              <a:rPr lang="en-US" sz="1700"/>
              <a:t>Inflation increased sharply after 2022. </a:t>
            </a:r>
          </a:p>
          <a:p>
            <a:pPr lvl="0"/>
            <a:r>
              <a:rPr lang="en-US" sz="1700"/>
              <a:t>Wage growth followed with some delay. </a:t>
            </a:r>
          </a:p>
          <a:p>
            <a:endParaRPr lang="en-US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746FB-ACCA-45F7-6D93-1E38B5320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932" y="1534323"/>
            <a:ext cx="5270268" cy="380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5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90CFA-327B-95F9-2239-BF703576F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Reproducibility &amp; Report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0C23C-CA14-332E-3488-347583ED7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Reproducibility:</a:t>
            </a:r>
          </a:p>
          <a:p>
            <a:pPr lvl="0"/>
            <a:r>
              <a:rPr lang="en-US" dirty="0"/>
              <a:t>Used organized R scripts. </a:t>
            </a:r>
          </a:p>
          <a:p>
            <a:pPr lvl="0"/>
            <a:r>
              <a:rPr lang="en-US" dirty="0"/>
              <a:t>Stored code in GitHub. </a:t>
            </a:r>
          </a:p>
          <a:p>
            <a:pPr lvl="0"/>
            <a:r>
              <a:rPr lang="en-US" dirty="0"/>
              <a:t>Documented how data were downloaded. </a:t>
            </a:r>
          </a:p>
          <a:p>
            <a:r>
              <a:rPr lang="en-US" b="1" dirty="0"/>
              <a:t>Report Quality:</a:t>
            </a:r>
          </a:p>
          <a:p>
            <a:pPr lvl="0"/>
            <a:r>
              <a:rPr lang="en-US" dirty="0"/>
              <a:t>Used APA referencing. </a:t>
            </a:r>
          </a:p>
          <a:p>
            <a:pPr lvl="0"/>
            <a:r>
              <a:rPr lang="en-US" dirty="0"/>
              <a:t>Included figures in discussions. </a:t>
            </a:r>
          </a:p>
          <a:p>
            <a:pPr lvl="0"/>
            <a:r>
              <a:rPr lang="en-US" dirty="0"/>
              <a:t>Maintained a clear structure. </a:t>
            </a:r>
          </a:p>
          <a:p>
            <a:r>
              <a:rPr lang="en-US" b="1" dirty="0"/>
              <a:t>Conclusion:</a:t>
            </a:r>
          </a:p>
          <a:p>
            <a:pPr lvl="0"/>
            <a:r>
              <a:rPr lang="en-US" dirty="0"/>
              <a:t>Minimum wages often increased alongside rent prices. </a:t>
            </a:r>
          </a:p>
          <a:p>
            <a:pPr lvl="0"/>
            <a:r>
              <a:rPr lang="en-US" dirty="0"/>
              <a:t>However, large differences existed across Europe.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056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A8264-0398-9820-8B9E-350E5CCB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19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5608CC-6852-1627-EA23-0530400EC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74" y="494414"/>
            <a:ext cx="10565039" cy="1406957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By carefully addressing each rubric criterion, we tried to achieve the Perfect Quality standard throughout the project. 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6" name="Picture 5" descr="Meme: &quot;Thank You For your attention&quot; - All Templates - Meme-arsenal.com">
            <a:extLst>
              <a:ext uri="{FF2B5EF4-FFF2-40B4-BE49-F238E27FC236}">
                <a16:creationId xmlns:a16="http://schemas.microsoft.com/office/drawing/2014/main" id="{DD873A0E-F57B-7FC0-A08F-675AAD63A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949" y="2354239"/>
            <a:ext cx="8872101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92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803</Words>
  <Application>Microsoft Macintosh PowerPoint</Application>
  <PresentationFormat>Widescreen</PresentationFormat>
  <Paragraphs>124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Comparing Minimum Wages and Rent Prices in Europe </vt:lpstr>
      <vt:lpstr>Problem Motivation and Literature </vt:lpstr>
      <vt:lpstr>Data Sourcing and Description </vt:lpstr>
      <vt:lpstr>Data Cleaning </vt:lpstr>
      <vt:lpstr>New Variables </vt:lpstr>
      <vt:lpstr>Temporal Variation </vt:lpstr>
      <vt:lpstr>Spatial Variation </vt:lpstr>
      <vt:lpstr>Sub-population Analysis </vt:lpstr>
      <vt:lpstr>Event Association </vt:lpstr>
      <vt:lpstr>Reproducibility &amp; Report </vt:lpstr>
      <vt:lpstr>By carefully addressing each rubric criterion, we tried to achieve the Perfect Quality standard throughout the project.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Kona, N. (Noel)</dc:creator>
  <cp:lastModifiedBy>Kona, N. (Noel)</cp:lastModifiedBy>
  <cp:revision>2</cp:revision>
  <dcterms:created xsi:type="dcterms:W3CDTF">2026-06-17T08:38:32Z</dcterms:created>
  <dcterms:modified xsi:type="dcterms:W3CDTF">2026-06-17T09:18:34Z</dcterms:modified>
</cp:coreProperties>
</file>